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3"/>
  </p:notesMasterIdLst>
  <p:sldIdLst>
    <p:sldId id="257" r:id="rId2"/>
    <p:sldId id="264" r:id="rId3"/>
    <p:sldId id="261" r:id="rId4"/>
    <p:sldId id="265" r:id="rId5"/>
    <p:sldId id="266" r:id="rId6"/>
    <p:sldId id="281" r:id="rId7"/>
    <p:sldId id="267" r:id="rId8"/>
    <p:sldId id="282" r:id="rId9"/>
    <p:sldId id="268" r:id="rId10"/>
    <p:sldId id="283" r:id="rId11"/>
    <p:sldId id="269" r:id="rId12"/>
    <p:sldId id="284" r:id="rId13"/>
    <p:sldId id="270" r:id="rId14"/>
    <p:sldId id="285" r:id="rId15"/>
    <p:sldId id="271" r:id="rId16"/>
    <p:sldId id="272" r:id="rId17"/>
    <p:sldId id="273" r:id="rId18"/>
    <p:sldId id="278" r:id="rId19"/>
    <p:sldId id="279" r:id="rId20"/>
    <p:sldId id="280" r:id="rId21"/>
    <p:sldId id="275" r:id="rId22"/>
  </p:sldIdLst>
  <p:sldSz cx="9144000" cy="5143500" type="screen16x9"/>
  <p:notesSz cx="6858000" cy="9144000"/>
  <p:embeddedFontLst>
    <p:embeddedFont>
      <p:font typeface="Commissioner" panose="020B0604020202020204" charset="0"/>
      <p:regular r:id="rId24"/>
      <p:bold r:id="rId25"/>
    </p:embeddedFont>
    <p:embeddedFont>
      <p:font typeface="Golos Text" panose="020B0604020202020204" charset="0"/>
      <p:regular r:id="rId26"/>
      <p:bold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D70123-1216-4EED-9AE4-0B5F99B6F654}">
  <a:tblStyle styleId="{65D70123-1216-4EED-9AE4-0B5F99B6F6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92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454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061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32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022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915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633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562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739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721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5017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416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96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782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610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835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790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393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354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47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79" r:id="rId2"/>
    <p:sldLayoutId id="214748368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8">
            <a:extLst>
              <a:ext uri="{FF2B5EF4-FFF2-40B4-BE49-F238E27FC236}">
                <a16:creationId xmlns:a16="http://schemas.microsoft.com/office/drawing/2014/main" id="{CAF8FB62-E6D9-4EE5-800A-324392A56B62}"/>
              </a:ext>
            </a:extLst>
          </p:cNvPr>
          <p:cNvSpPr txBox="1">
            <a:spLocks/>
          </p:cNvSpPr>
          <p:nvPr/>
        </p:nvSpPr>
        <p:spPr>
          <a:xfrm>
            <a:off x="2485569" y="3136676"/>
            <a:ext cx="7851648" cy="166811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i="1" dirty="0"/>
              <a:t>             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Harish Kumar G {192521340}</a:t>
            </a:r>
          </a:p>
          <a:p>
            <a:pPr algn="ctr"/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s-E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Vishwa</a:t>
            </a:r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{192511192}</a:t>
            </a:r>
          </a:p>
          <a:p>
            <a:pPr algn="ctr"/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Mohamed </a:t>
            </a:r>
            <a:r>
              <a:rPr lang="es-E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Haroon</a:t>
            </a:r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{192511313}</a:t>
            </a:r>
          </a:p>
          <a:p>
            <a:pPr algn="ctr"/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s-E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Jaisurya</a:t>
            </a:r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Devendiran</a:t>
            </a:r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{192511051}</a:t>
            </a:r>
          </a:p>
          <a:p>
            <a:pPr algn="ctr"/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s-E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Sakthi</a:t>
            </a:r>
            <a:r>
              <a:rPr lang="es-E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R {192521303}</a:t>
            </a:r>
            <a:endParaRPr 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i="1" dirty="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AE3911FF-4FEC-4FB0-8671-82104116073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13" y="134964"/>
            <a:ext cx="8633791" cy="8249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6E4FBF-E9D0-46C5-A2C1-43A36F38B955}"/>
              </a:ext>
            </a:extLst>
          </p:cNvPr>
          <p:cNvSpPr/>
          <p:nvPr/>
        </p:nvSpPr>
        <p:spPr>
          <a:xfrm>
            <a:off x="926592" y="1172766"/>
            <a:ext cx="741883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A CAPSTONE PROJECT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ON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CSA0402-OPERATING SYSTEM</a:t>
            </a:r>
          </a:p>
          <a:p>
            <a:pPr algn="ctr" fontAlgn="ctr"/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OSentinel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– Autonomous OS Process Anomaly Detection, Isolation &amp; Self-Recovery System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F3DA0-F16A-9C98-7B24-7544C9CD7C99}"/>
              </a:ext>
            </a:extLst>
          </p:cNvPr>
          <p:cNvSpPr txBox="1"/>
          <p:nvPr/>
        </p:nvSpPr>
        <p:spPr>
          <a:xfrm>
            <a:off x="672045" y="3270973"/>
            <a:ext cx="3436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PRISKILLA ANGEL RANI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0" y="348885"/>
            <a:ext cx="7874220" cy="1093724"/>
          </a:xfrm>
        </p:spPr>
        <p:txBody>
          <a:bodyPr/>
          <a:lstStyle/>
          <a:p>
            <a:r>
              <a:rPr lang="en-IN" sz="3200" b="1" u="sng" dirty="0">
                <a:latin typeface="Golos Text" panose="020B0604020202020204" charset="0"/>
                <a:cs typeface="Golos Text" panose="020B0604020202020204" charset="0"/>
              </a:rPr>
              <a:t>Introduction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642320B8-ED46-4565-9A0F-5136AE724B99}"/>
              </a:ext>
            </a:extLst>
          </p:cNvPr>
          <p:cNvPicPr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21981"/>
            <a:ext cx="1016332" cy="994348"/>
          </a:xfrm>
          <a:prstGeom prst="rect">
            <a:avLst/>
          </a:prstGeom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id="{6FE0F741-099B-46EA-BB87-E6B31514AD3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51446" y="116605"/>
            <a:ext cx="1178549" cy="1173604"/>
          </a:xfrm>
          <a:prstGeom prst="rect">
            <a:avLst/>
          </a:prstGeom>
          <a:ln/>
        </p:spPr>
      </p:pic>
      <p:sp>
        <p:nvSpPr>
          <p:cNvPr id="11" name="AutoShape 2" descr="Image of ">
            <a:extLst>
              <a:ext uri="{FF2B5EF4-FFF2-40B4-BE49-F238E27FC236}">
                <a16:creationId xmlns:a16="http://schemas.microsoft.com/office/drawing/2014/main" id="{1A677CB3-BA0E-4F38-AE4C-077811ACF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4" descr="Image of ">
            <a:extLst>
              <a:ext uri="{FF2B5EF4-FFF2-40B4-BE49-F238E27FC236}">
                <a16:creationId xmlns:a16="http://schemas.microsoft.com/office/drawing/2014/main" id="{57AC48FB-A284-41BC-A463-861C03DFAA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D2061D-A9DE-4A53-9D71-1D49C1A8925B}"/>
              </a:ext>
            </a:extLst>
          </p:cNvPr>
          <p:cNvSpPr/>
          <p:nvPr/>
        </p:nvSpPr>
        <p:spPr>
          <a:xfrm>
            <a:off x="591765" y="1874848"/>
            <a:ext cx="8265270" cy="3268652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20987-2118-4CF4-BED7-B342A70034BC}"/>
              </a:ext>
            </a:extLst>
          </p:cNvPr>
          <p:cNvSpPr/>
          <p:nvPr/>
        </p:nvSpPr>
        <p:spPr>
          <a:xfrm>
            <a:off x="351446" y="895747"/>
            <a:ext cx="5610442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operating systems run hundreds of processes simultaneously.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processes may become abnormal due to excessive resource usage or failures.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Task Managers mainly provide monitoring without automatic recovery.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OSentinel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monitors, detects, isolates, and recovers abnormal processes.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C718E5-C17B-4CC9-85AC-A214D0444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145" y="1460212"/>
            <a:ext cx="3318634" cy="29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8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660256"/>
            <a:ext cx="5961888" cy="549900"/>
          </a:xfrm>
        </p:spPr>
        <p:txBody>
          <a:bodyPr/>
          <a:lstStyle/>
          <a:p>
            <a:r>
              <a:rPr lang="en-IN" b="1" u="sng" dirty="0">
                <a:latin typeface="Golos Text" panose="020B0604020202020204" charset="0"/>
                <a:cs typeface="Golos Text" panose="020B0604020202020204" charset="0"/>
              </a:rPr>
              <a:t>Problem</a:t>
            </a:r>
            <a:r>
              <a:rPr lang="en-IN" u="sng" dirty="0">
                <a:latin typeface="Golos Text" panose="020B0604020202020204" charset="0"/>
                <a:cs typeface="Golos Text" panose="020B0604020202020204" charset="0"/>
              </a:rPr>
              <a:t> </a:t>
            </a:r>
            <a:r>
              <a:rPr lang="en-IN" b="1" u="sng" dirty="0">
                <a:latin typeface="Golos Text" panose="020B0604020202020204" charset="0"/>
                <a:cs typeface="Golos Text" panose="020B0604020202020204" charset="0"/>
              </a:rPr>
              <a:t>Statement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738136-AC73-4CA2-B700-2414A813842C}"/>
              </a:ext>
            </a:extLst>
          </p:cNvPr>
          <p:cNvSpPr/>
          <p:nvPr/>
        </p:nvSpPr>
        <p:spPr>
          <a:xfrm>
            <a:off x="634077" y="1493071"/>
            <a:ext cx="577829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process monitoring faces problems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Runaway CPU-consuming processes.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leak behavior.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Zombie and orphan processes.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 bomb process explosions.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deadlocks.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intervention is required for recovery.</a:t>
            </a:r>
          </a:p>
        </p:txBody>
      </p:sp>
      <p:sp>
        <p:nvSpPr>
          <p:cNvPr id="2" name="AutoShape 2" descr="Introduction of Deadlock in Operating System - GeeksforGeeks">
            <a:extLst>
              <a:ext uri="{FF2B5EF4-FFF2-40B4-BE49-F238E27FC236}">
                <a16:creationId xmlns:a16="http://schemas.microsoft.com/office/drawing/2014/main" id="{B46CF06B-637D-4326-A842-BD8F48BD7A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8577" y="2106833"/>
            <a:ext cx="21550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troduction of Deadlock in Operating System - GeeksforGeeks">
            <a:extLst>
              <a:ext uri="{FF2B5EF4-FFF2-40B4-BE49-F238E27FC236}">
                <a16:creationId xmlns:a16="http://schemas.microsoft.com/office/drawing/2014/main" id="{3A80EA90-BBBA-4029-BB96-056C87BB0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24" name="Picture 8" descr="Deadlock Detection Explained: Algorithms &amp; Best Practices">
            <a:extLst>
              <a:ext uri="{FF2B5EF4-FFF2-40B4-BE49-F238E27FC236}">
                <a16:creationId xmlns:a16="http://schemas.microsoft.com/office/drawing/2014/main" id="{0CF00700-275F-49F4-BFF3-BF0AC7FB4A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0" t="10622" r="12525" b="10773"/>
          <a:stretch/>
        </p:blipFill>
        <p:spPr bwMode="auto">
          <a:xfrm>
            <a:off x="5706319" y="1384642"/>
            <a:ext cx="3541854" cy="214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Deadlock in Operating System | Lecture Notes in Computer Science">
            <a:extLst>
              <a:ext uri="{FF2B5EF4-FFF2-40B4-BE49-F238E27FC236}">
                <a16:creationId xmlns:a16="http://schemas.microsoft.com/office/drawing/2014/main" id="{96B971B0-3ED3-4F44-B296-ACF7D8303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444" y="3413641"/>
            <a:ext cx="2803604" cy="137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7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385306"/>
            <a:ext cx="5961888" cy="549900"/>
          </a:xfrm>
        </p:spPr>
        <p:txBody>
          <a:bodyPr/>
          <a:lstStyle/>
          <a:p>
            <a:r>
              <a:rPr lang="en-IN" b="1" u="sng" dirty="0">
                <a:latin typeface="Golos Text" panose="020B0604020202020204" charset="0"/>
                <a:cs typeface="Golos Text" panose="020B0604020202020204" charset="0"/>
              </a:rPr>
              <a:t>Objectives of the System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85A42C2-303C-4365-8485-DC8DF859A0F2}"/>
              </a:ext>
            </a:extLst>
          </p:cNvPr>
          <p:cNvSpPr/>
          <p:nvPr/>
        </p:nvSpPr>
        <p:spPr>
          <a:xfrm>
            <a:off x="481456" y="1096218"/>
            <a:ext cx="6114416" cy="3730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live OS process telemetry.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 parent-child process relationships.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multiple types of process anomalies.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resource deadlocks using Wait-For Graphs.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process risk levels.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quarantine and recover problematic processes.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8CA6F8-C559-4730-AFFD-C24E42AF0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137" y="1318442"/>
            <a:ext cx="3085116" cy="32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5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B949C6-A50B-4ABF-8B62-E1A57D456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61006" y="231250"/>
            <a:ext cx="62272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u="sng" dirty="0"/>
              <a:t>Module 1: </a:t>
            </a:r>
            <a:r>
              <a:rPr lang="en-IN" sz="2200" u="sng" dirty="0"/>
              <a:t>Process Telemetry &amp; Lineage Discovery</a:t>
            </a:r>
            <a:endParaRPr kumimoji="0" lang="en-US" altLang="en-US" sz="22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0A0C7-85A8-424E-8D47-3F07960438C9}"/>
              </a:ext>
            </a:extLst>
          </p:cNvPr>
          <p:cNvSpPr/>
          <p:nvPr/>
        </p:nvSpPr>
        <p:spPr>
          <a:xfrm>
            <a:off x="507036" y="1284394"/>
            <a:ext cx="905149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Purpose:</a:t>
            </a:r>
            <a:r>
              <a:rPr lang="en-US" sz="2000" dirty="0"/>
              <a:t> Collect and analyze live process information.</a:t>
            </a:r>
          </a:p>
          <a:p>
            <a:endParaRPr lang="en-US" sz="2000" dirty="0"/>
          </a:p>
          <a:p>
            <a:r>
              <a:rPr lang="en-US" sz="2000" b="1" dirty="0"/>
              <a:t>Functions: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Collect PID, PPID, process name and status.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 CPU and memory usage.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Track thread count and creation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 parent-child process hierarchy.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Maintain historical telemetry for trend analysis. </a:t>
            </a:r>
          </a:p>
          <a:p>
            <a:endParaRPr lang="en-US" sz="2000" dirty="0"/>
          </a:p>
          <a:p>
            <a:r>
              <a:rPr lang="en-US" sz="2000" b="1" dirty="0"/>
              <a:t>Technique:</a:t>
            </a:r>
            <a:r>
              <a:rPr lang="en-US" sz="2000" dirty="0"/>
              <a:t> Bulk process iteration + Process Tree + Rolling History Buffer.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75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B949C6-A50B-4ABF-8B62-E1A57D456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61006" y="231250"/>
            <a:ext cx="62272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u="sng" dirty="0"/>
              <a:t>Module 1: </a:t>
            </a:r>
            <a:r>
              <a:rPr lang="en-IN" sz="2200" u="sng" dirty="0"/>
              <a:t>Process Telemetry &amp; Lineage Discovery</a:t>
            </a:r>
            <a:endParaRPr kumimoji="0" lang="en-US" altLang="en-US" sz="22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79A255-CD34-461A-9AD0-6E368ABC8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01" y="1247058"/>
            <a:ext cx="7811397" cy="352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9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62" y="211086"/>
            <a:ext cx="5961888" cy="549900"/>
          </a:xfrm>
        </p:spPr>
        <p:txBody>
          <a:bodyPr/>
          <a:lstStyle/>
          <a:p>
            <a:r>
              <a:rPr lang="en-US" u="sng" dirty="0"/>
              <a:t>Module 2: </a:t>
            </a:r>
            <a:r>
              <a:rPr lang="en-IN" u="sng" dirty="0"/>
              <a:t>Multi-Signature Anomaly Detection Engine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9466BA-520B-42AD-A446-BAD9401A0736}"/>
              </a:ext>
            </a:extLst>
          </p:cNvPr>
          <p:cNvSpPr/>
          <p:nvPr/>
        </p:nvSpPr>
        <p:spPr>
          <a:xfrm>
            <a:off x="699010" y="1454539"/>
            <a:ext cx="774597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Purpose:</a:t>
            </a:r>
            <a:r>
              <a:rPr lang="en-IN" sz="2000" dirty="0"/>
              <a:t> Detect abnormal process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b="1" dirty="0"/>
              <a:t>Detects: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Zombie Processes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Orphan Processes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Runaway CPU Processes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Memory Leak Patterns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Fork Bomb Explosions </a:t>
            </a:r>
          </a:p>
          <a:p>
            <a:endParaRPr lang="en-IN" sz="2000" dirty="0"/>
          </a:p>
          <a:p>
            <a:r>
              <a:rPr lang="en-IN" sz="2000" dirty="0"/>
              <a:t>The engine evaluates multiple </a:t>
            </a:r>
            <a:r>
              <a:rPr lang="en-IN" sz="2000" dirty="0" err="1"/>
              <a:t>behavioral</a:t>
            </a:r>
            <a:r>
              <a:rPr lang="en-IN" sz="2000" dirty="0"/>
              <a:t> signatures instead of relying on a single threshold.</a:t>
            </a:r>
          </a:p>
        </p:txBody>
      </p:sp>
    </p:spTree>
    <p:extLst>
      <p:ext uri="{BB962C8B-B14F-4D97-AF65-F5344CB8AC3E}">
        <p14:creationId xmlns:p14="http://schemas.microsoft.com/office/powerpoint/2010/main" val="142757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62" y="211086"/>
            <a:ext cx="5961888" cy="549900"/>
          </a:xfrm>
        </p:spPr>
        <p:txBody>
          <a:bodyPr/>
          <a:lstStyle/>
          <a:p>
            <a:r>
              <a:rPr lang="en-US" u="sng" dirty="0"/>
              <a:t>Module 2: </a:t>
            </a:r>
            <a:r>
              <a:rPr lang="en-IN" u="sng" dirty="0"/>
              <a:t>Multi-Signature Anomaly Detection Engine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919113-9856-46D2-8384-E570E8AAB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24" y="1247058"/>
            <a:ext cx="7813952" cy="352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2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63082"/>
            <a:ext cx="5961888" cy="549900"/>
          </a:xfrm>
        </p:spPr>
        <p:txBody>
          <a:bodyPr/>
          <a:lstStyle/>
          <a:p>
            <a:r>
              <a:rPr lang="en-US" u="sng" dirty="0"/>
              <a:t>Module 3: </a:t>
            </a:r>
            <a:r>
              <a:rPr lang="en-IN" u="sng" dirty="0"/>
              <a:t>Wait-For Graph Deadlock Analyzer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75300B-03CA-40E9-AD5D-6FA6F28E8789}"/>
              </a:ext>
            </a:extLst>
          </p:cNvPr>
          <p:cNvSpPr/>
          <p:nvPr/>
        </p:nvSpPr>
        <p:spPr>
          <a:xfrm>
            <a:off x="491746" y="1501682"/>
            <a:ext cx="779474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Purpose:</a:t>
            </a:r>
            <a:r>
              <a:rPr lang="en-US" sz="2000" dirty="0"/>
              <a:t> Detect resource-related process deadlocks.</a:t>
            </a:r>
          </a:p>
          <a:p>
            <a:r>
              <a:rPr lang="en-US" sz="2000" b="1" dirty="0"/>
              <a:t>Functions: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Represent processes as graph vertices.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Represent waiting relationships as directed edges.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Detect circular dependencies.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active deadlock cycles.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Determine processes that can be terminated to break the deadlock. </a:t>
            </a:r>
          </a:p>
          <a:p>
            <a:r>
              <a:rPr lang="en-US" sz="2000" b="1" dirty="0"/>
              <a:t>Techniques:</a:t>
            </a:r>
            <a:br>
              <a:rPr lang="en-US" sz="2000" dirty="0"/>
            </a:br>
            <a:r>
              <a:rPr lang="en-US" sz="2000" dirty="0"/>
              <a:t>Wait-For Graph + DFS + </a:t>
            </a:r>
            <a:r>
              <a:rPr lang="en-US" sz="2000" dirty="0" err="1"/>
              <a:t>Tarjan's</a:t>
            </a:r>
            <a:r>
              <a:rPr lang="en-US" sz="2000" dirty="0"/>
              <a:t> Strongly Connected Components (SCC).</a:t>
            </a:r>
          </a:p>
        </p:txBody>
      </p:sp>
    </p:spTree>
    <p:extLst>
      <p:ext uri="{BB962C8B-B14F-4D97-AF65-F5344CB8AC3E}">
        <p14:creationId xmlns:p14="http://schemas.microsoft.com/office/powerpoint/2010/main" val="223075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63082"/>
            <a:ext cx="5961888" cy="549900"/>
          </a:xfrm>
        </p:spPr>
        <p:txBody>
          <a:bodyPr/>
          <a:lstStyle/>
          <a:p>
            <a:r>
              <a:rPr lang="en-US" u="sng" dirty="0"/>
              <a:t>Module 3: </a:t>
            </a:r>
            <a:r>
              <a:rPr lang="en-IN" u="sng" dirty="0"/>
              <a:t>Wait-For Graph Deadlock Analyzer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0A3CB3-55D8-4AC8-A9F2-9C14AC0B8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862" y="1501682"/>
            <a:ext cx="8137002" cy="320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73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64137"/>
            <a:ext cx="5961888" cy="549900"/>
          </a:xfrm>
        </p:spPr>
        <p:txBody>
          <a:bodyPr/>
          <a:lstStyle/>
          <a:p>
            <a:r>
              <a:rPr lang="en-IN" u="sng" dirty="0"/>
              <a:t>Module 4: Risk Scoring &amp; Quarantine Isolation Vault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AAD6E2-F517-448C-98A3-7A5E0000C528}"/>
              </a:ext>
            </a:extLst>
          </p:cNvPr>
          <p:cNvSpPr/>
          <p:nvPr/>
        </p:nvSpPr>
        <p:spPr>
          <a:xfrm>
            <a:off x="451104" y="1417588"/>
            <a:ext cx="801014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Purpose:</a:t>
            </a:r>
            <a:r>
              <a:rPr lang="en-IN" sz="2000" dirty="0"/>
              <a:t> Evaluate process threat level and isolate dangerous processes.</a:t>
            </a:r>
          </a:p>
          <a:p>
            <a:endParaRPr lang="en-IN" sz="2000" dirty="0"/>
          </a:p>
          <a:p>
            <a:r>
              <a:rPr lang="en-IN" sz="2000" b="1" dirty="0"/>
              <a:t>Risk Levels:                              </a:t>
            </a:r>
          </a:p>
          <a:p>
            <a:r>
              <a:rPr lang="en-IN" sz="2000" b="1" dirty="0"/>
              <a:t>0–24:</a:t>
            </a:r>
            <a:r>
              <a:rPr lang="en-IN" sz="2000" dirty="0"/>
              <a:t> Healthy </a:t>
            </a:r>
          </a:p>
          <a:p>
            <a:r>
              <a:rPr lang="en-IN" sz="2000" b="1" dirty="0"/>
              <a:t>25–49:</a:t>
            </a:r>
            <a:r>
              <a:rPr lang="en-IN" sz="2000" dirty="0"/>
              <a:t> Warning </a:t>
            </a:r>
          </a:p>
          <a:p>
            <a:r>
              <a:rPr lang="en-IN" sz="2000" b="1" dirty="0"/>
              <a:t>50–74:</a:t>
            </a:r>
            <a:r>
              <a:rPr lang="en-IN" sz="2000" dirty="0"/>
              <a:t> Suspicious </a:t>
            </a:r>
          </a:p>
          <a:p>
            <a:r>
              <a:rPr lang="en-IN" sz="2000" b="1" dirty="0"/>
              <a:t>75–100:</a:t>
            </a:r>
            <a:r>
              <a:rPr lang="en-IN" sz="2000" dirty="0"/>
              <a:t> Critical </a:t>
            </a:r>
          </a:p>
          <a:p>
            <a:endParaRPr lang="en-IN" sz="2000" dirty="0"/>
          </a:p>
          <a:p>
            <a:r>
              <a:rPr lang="en-IN" sz="2000" b="1" dirty="0"/>
              <a:t>Risk Formula:</a:t>
            </a:r>
            <a:br>
              <a:rPr lang="en-IN" sz="2000" dirty="0"/>
            </a:br>
            <a:r>
              <a:rPr lang="en-IN" sz="2000" b="1" dirty="0"/>
              <a:t>R = min(100, </a:t>
            </a:r>
            <a:r>
              <a:rPr lang="el-GR" sz="2000" b="1" dirty="0"/>
              <a:t>Σ </a:t>
            </a:r>
            <a:r>
              <a:rPr lang="en-IN" sz="2000" b="1" dirty="0"/>
              <a:t>Wi × Ai)</a:t>
            </a:r>
            <a:endParaRPr lang="en-IN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D6F732-B444-4FDA-BCDE-44EF30F8429D}"/>
              </a:ext>
            </a:extLst>
          </p:cNvPr>
          <p:cNvSpPr/>
          <p:nvPr/>
        </p:nvSpPr>
        <p:spPr>
          <a:xfrm>
            <a:off x="3712464" y="1986974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000" b="1" dirty="0"/>
          </a:p>
          <a:p>
            <a:r>
              <a:rPr lang="en-IN" sz="2000" b="1" dirty="0"/>
              <a:t>Isolation Actions: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Reduce process priority.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Restrict CPU affinity.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Suspend process threads.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Maintain isolation records. </a:t>
            </a:r>
          </a:p>
        </p:txBody>
      </p:sp>
    </p:spTree>
    <p:extLst>
      <p:ext uri="{BB962C8B-B14F-4D97-AF65-F5344CB8AC3E}">
        <p14:creationId xmlns:p14="http://schemas.microsoft.com/office/powerpoint/2010/main" val="281143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64137"/>
            <a:ext cx="5961888" cy="549900"/>
          </a:xfrm>
        </p:spPr>
        <p:txBody>
          <a:bodyPr/>
          <a:lstStyle/>
          <a:p>
            <a:r>
              <a:rPr lang="en-IN" u="sng" dirty="0"/>
              <a:t>Module 4: Risk Scoring &amp; Quarantine Isolation Vault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FDC9FF-C362-4133-A01F-3C0A06819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3" y="1247058"/>
            <a:ext cx="7655125" cy="345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2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63082"/>
            <a:ext cx="5961888" cy="549900"/>
          </a:xfrm>
        </p:spPr>
        <p:txBody>
          <a:bodyPr/>
          <a:lstStyle/>
          <a:p>
            <a:r>
              <a:rPr lang="en-US" u="sng" dirty="0"/>
              <a:t>Module 5: </a:t>
            </a:r>
            <a:r>
              <a:rPr lang="en-IN" u="sng" dirty="0"/>
              <a:t>Autonomous Self-Recovery &amp; Chaos Lab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280ED6-AE6A-4DBA-94FE-09D4ADE838C6}"/>
              </a:ext>
            </a:extLst>
          </p:cNvPr>
          <p:cNvSpPr/>
          <p:nvPr/>
        </p:nvSpPr>
        <p:spPr>
          <a:xfrm>
            <a:off x="481414" y="1284280"/>
            <a:ext cx="78922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/>
              <a:t>Purpose:</a:t>
            </a:r>
            <a:r>
              <a:rPr lang="en-IN" sz="1800" dirty="0"/>
              <a:t> Automatically recover abnormal processes and test system response.</a:t>
            </a:r>
          </a:p>
          <a:p>
            <a:endParaRPr lang="en-IN" sz="1800" dirty="0"/>
          </a:p>
          <a:p>
            <a:r>
              <a:rPr lang="en-IN" sz="1800" b="1" dirty="0"/>
              <a:t>Recovery Cycle:</a:t>
            </a:r>
          </a:p>
          <a:p>
            <a:r>
              <a:rPr lang="en-IN" sz="1800" dirty="0"/>
              <a:t>Detect → </a:t>
            </a:r>
            <a:r>
              <a:rPr lang="en-IN" sz="1800" dirty="0" err="1"/>
              <a:t>Analyze</a:t>
            </a:r>
            <a:r>
              <a:rPr lang="en-IN" sz="1800" dirty="0"/>
              <a:t> → Decide → Recover → Verify</a:t>
            </a:r>
          </a:p>
          <a:p>
            <a:r>
              <a:rPr lang="en-IN" sz="1800" b="1" dirty="0"/>
              <a:t>Chaos Lab: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Simulates orphan processes.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Generates CPU load.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Simulates memory leaks.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Creates fork bomb scenarios.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Generates deadlock pairs. </a:t>
            </a:r>
          </a:p>
          <a:p>
            <a:endParaRPr lang="en-IN" sz="1800" dirty="0"/>
          </a:p>
          <a:p>
            <a:r>
              <a:rPr lang="en-IN" sz="1800" dirty="0"/>
              <a:t>This allows the system to demonstrate real-time detection and recovery.</a:t>
            </a:r>
          </a:p>
        </p:txBody>
      </p:sp>
    </p:spTree>
    <p:extLst>
      <p:ext uri="{BB962C8B-B14F-4D97-AF65-F5344CB8AC3E}">
        <p14:creationId xmlns:p14="http://schemas.microsoft.com/office/powerpoint/2010/main" val="305302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63082"/>
            <a:ext cx="5961888" cy="549900"/>
          </a:xfrm>
        </p:spPr>
        <p:txBody>
          <a:bodyPr/>
          <a:lstStyle/>
          <a:p>
            <a:r>
              <a:rPr lang="en-US" u="sng" dirty="0"/>
              <a:t>Module 5: </a:t>
            </a:r>
            <a:r>
              <a:rPr lang="en-IN" u="sng" dirty="0"/>
              <a:t>Autonomous Self-Recovery &amp; Chaos Lab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B58BA-744F-45A6-9502-BF6E5DEF7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57" y="1247058"/>
            <a:ext cx="7535119" cy="340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73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179623"/>
            <a:ext cx="5961888" cy="549900"/>
          </a:xfrm>
        </p:spPr>
        <p:txBody>
          <a:bodyPr/>
          <a:lstStyle/>
          <a:p>
            <a:r>
              <a:rPr lang="en-IN" u="sng" dirty="0"/>
              <a:t>System Architecture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011921" y="74806"/>
            <a:ext cx="1016332" cy="9943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A2890D-454D-4379-BD03-CBD14D0DBE54}"/>
              </a:ext>
            </a:extLst>
          </p:cNvPr>
          <p:cNvSpPr/>
          <p:nvPr/>
        </p:nvSpPr>
        <p:spPr>
          <a:xfrm>
            <a:off x="515071" y="1247058"/>
            <a:ext cx="413795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OSentinel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forms a closed-loop from telemetry capture through verification: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Processes → Telemetry &amp; Lineage Discovery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→ WFG Deadlock Analysis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→ Quarantine Isolation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Recovery → Verification &amp; Audit Logging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A7CD24-DF4A-49FA-82ED-CB3845691F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708" t="6163" r="36203" b="6163"/>
          <a:stretch/>
        </p:blipFill>
        <p:spPr>
          <a:xfrm>
            <a:off x="4882551" y="1069155"/>
            <a:ext cx="3746378" cy="378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5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254452"/>
            <a:ext cx="5961888" cy="549900"/>
          </a:xfrm>
        </p:spPr>
        <p:txBody>
          <a:bodyPr/>
          <a:lstStyle/>
          <a:p>
            <a:r>
              <a:rPr lang="en-IN" u="sng" dirty="0"/>
              <a:t>Technologies Used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E56594-BDA6-4116-9D5A-F1642900DD81}"/>
              </a:ext>
            </a:extLst>
          </p:cNvPr>
          <p:cNvSpPr/>
          <p:nvPr/>
        </p:nvSpPr>
        <p:spPr>
          <a:xfrm>
            <a:off x="494519" y="1157430"/>
            <a:ext cx="7346886" cy="3730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Monitoring: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Communication: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Canvas-based process graph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Export: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CSV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DFS and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Tarjan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SCC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Unit Testing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3FABBA-B693-4628-A11B-1A1892535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0861" y="1247057"/>
            <a:ext cx="3690178" cy="347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85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112" y="256042"/>
            <a:ext cx="5961888" cy="549900"/>
          </a:xfrm>
        </p:spPr>
        <p:txBody>
          <a:bodyPr/>
          <a:lstStyle/>
          <a:p>
            <a:r>
              <a:rPr lang="en-US" u="sng" dirty="0"/>
              <a:t>Traditional Method vs </a:t>
            </a:r>
            <a:r>
              <a:rPr lang="en-IN" sz="3200" dirty="0" err="1">
                <a:latin typeface="Golos Text" panose="020B0604020202020204" charset="0"/>
                <a:cs typeface="Golos Text" panose="020B0604020202020204" charset="0"/>
              </a:rPr>
              <a:t>OSentinel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94327A46-C765-4825-962C-7A3DAB580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760244"/>
              </p:ext>
            </p:extLst>
          </p:nvPr>
        </p:nvGraphicFramePr>
        <p:xfrm>
          <a:off x="1072575" y="1576070"/>
          <a:ext cx="6998208" cy="2895600"/>
        </p:xfrm>
        <a:graphic>
          <a:graphicData uri="http://schemas.openxmlformats.org/drawingml/2006/table">
            <a:tbl>
              <a:tblPr firstRow="1" bandRow="1">
                <a:tableStyleId>{65D70123-1216-4EED-9AE4-0B5F99B6F654}</a:tableStyleId>
              </a:tblPr>
              <a:tblGrid>
                <a:gridCol w="3499104">
                  <a:extLst>
                    <a:ext uri="{9D8B030D-6E8A-4147-A177-3AD203B41FA5}">
                      <a16:colId xmlns:a16="http://schemas.microsoft.com/office/drawing/2014/main" val="611953700"/>
                    </a:ext>
                  </a:extLst>
                </a:gridCol>
                <a:gridCol w="3499104">
                  <a:extLst>
                    <a:ext uri="{9D8B030D-6E8A-4147-A177-3AD203B41FA5}">
                      <a16:colId xmlns:a16="http://schemas.microsoft.com/office/drawing/2014/main" val="4156452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OSentinel</a:t>
                      </a:r>
                      <a:endParaRPr lang="en-IN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8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77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process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telemetry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6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process visibility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31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deadlock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WFG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02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process termination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quarantine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721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783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275578"/>
            <a:ext cx="5961888" cy="549900"/>
          </a:xfrm>
        </p:spPr>
        <p:txBody>
          <a:bodyPr/>
          <a:lstStyle/>
          <a:p>
            <a:r>
              <a:rPr lang="en-IN" u="sng" dirty="0"/>
              <a:t>Expected Output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312C56-7CCB-47D4-B0FF-CCAB31550ACB}"/>
              </a:ext>
            </a:extLst>
          </p:cNvPr>
          <p:cNvSpPr/>
          <p:nvPr/>
        </p:nvSpPr>
        <p:spPr>
          <a:xfrm>
            <a:off x="603078" y="1601595"/>
            <a:ext cx="803275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display: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process telemetry.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hierarchy visualization.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anomaly types.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cycle identification.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score and threat tier.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Quarantine status.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actions.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history.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32938-7558-4332-A2A3-9925EC437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7113" y="1601595"/>
            <a:ext cx="4671465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6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275578"/>
            <a:ext cx="5961888" cy="549900"/>
          </a:xfrm>
        </p:spPr>
        <p:txBody>
          <a:bodyPr/>
          <a:lstStyle/>
          <a:p>
            <a:r>
              <a:rPr lang="en-IN" u="sng" dirty="0"/>
              <a:t>Future Enhancements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99C12C9-67BC-4C1F-A370-43FA5DB9FC65}"/>
              </a:ext>
            </a:extLst>
          </p:cNvPr>
          <p:cNvSpPr/>
          <p:nvPr/>
        </p:nvSpPr>
        <p:spPr>
          <a:xfrm>
            <a:off x="791376" y="1070097"/>
            <a:ext cx="7561248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Machine-learning-based anomaly prediction.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malware behavior detection.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risk scoring.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Cross-system process monitoring.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sandbox-based isolation.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monitoring and analytics. </a:t>
            </a:r>
          </a:p>
        </p:txBody>
      </p:sp>
    </p:spTree>
    <p:extLst>
      <p:ext uri="{BB962C8B-B14F-4D97-AF65-F5344CB8AC3E}">
        <p14:creationId xmlns:p14="http://schemas.microsoft.com/office/powerpoint/2010/main" val="4060845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06" y="275578"/>
            <a:ext cx="5961888" cy="549900"/>
          </a:xfrm>
        </p:spPr>
        <p:txBody>
          <a:bodyPr/>
          <a:lstStyle/>
          <a:p>
            <a:r>
              <a:rPr lang="en-IN" u="sng" dirty="0"/>
              <a:t>Conclusion</a:t>
            </a:r>
            <a:endParaRPr lang="en-IN" b="1" u="sng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B5CAF8D7-8BE1-491F-9F84-810ACBD4A09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6683" y="73454"/>
            <a:ext cx="1178549" cy="1173604"/>
          </a:xfrm>
          <a:prstGeom prst="rect">
            <a:avLst/>
          </a:prstGeom>
          <a:ln/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B57A561-211C-42AA-BC88-78A3A6675AD1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88"/>
          <a:stretch/>
        </p:blipFill>
        <p:spPr>
          <a:xfrm>
            <a:off x="8127668" y="163082"/>
            <a:ext cx="1016332" cy="9943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DE065CC-EE42-43DF-850E-D424BC75B62E}"/>
              </a:ext>
            </a:extLst>
          </p:cNvPr>
          <p:cNvSpPr/>
          <p:nvPr/>
        </p:nvSpPr>
        <p:spPr>
          <a:xfrm>
            <a:off x="581955" y="1436180"/>
            <a:ext cx="8159709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OSentinel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autonomous approach to OS process protection.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combines telemetry, anomaly detection, deadlock analysis, risk scoring, isolation, and recovery.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closed-loop architecture enables automatic response to abnormal process behavior.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process visibility, system stability, and recovery automation. </a:t>
            </a:r>
          </a:p>
        </p:txBody>
      </p:sp>
    </p:spTree>
    <p:extLst>
      <p:ext uri="{BB962C8B-B14F-4D97-AF65-F5344CB8AC3E}">
        <p14:creationId xmlns:p14="http://schemas.microsoft.com/office/powerpoint/2010/main" val="1153662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83EEC-298C-48EA-AA85-645D4F90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673" y="1345990"/>
            <a:ext cx="5961888" cy="549900"/>
          </a:xfrm>
        </p:spPr>
        <p:txBody>
          <a:bodyPr/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2" name="Picture 10" descr="Free Thank you Any Questions Templates">
            <a:extLst>
              <a:ext uri="{FF2B5EF4-FFF2-40B4-BE49-F238E27FC236}">
                <a16:creationId xmlns:a16="http://schemas.microsoft.com/office/drawing/2014/main" id="{465AD573-B7D0-54E9-A42F-33CF42FBF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C0330-A6B5-0829-2EC8-CE67F5FD2932}"/>
              </a:ext>
            </a:extLst>
          </p:cNvPr>
          <p:cNvSpPr/>
          <p:nvPr/>
        </p:nvSpPr>
        <p:spPr>
          <a:xfrm>
            <a:off x="5134130" y="3800007"/>
            <a:ext cx="2555823" cy="3222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635953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769</Words>
  <Application>Microsoft Office PowerPoint</Application>
  <PresentationFormat>On-screen Show (16:9)</PresentationFormat>
  <Paragraphs>154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Verdana</vt:lpstr>
      <vt:lpstr>Golos Text</vt:lpstr>
      <vt:lpstr>Arial</vt:lpstr>
      <vt:lpstr>Times New Roman</vt:lpstr>
      <vt:lpstr>Commissioner</vt:lpstr>
      <vt:lpstr>Formulating a Research Problem for University Students by Slidesgo</vt:lpstr>
      <vt:lpstr>PowerPoint Presentation</vt:lpstr>
      <vt:lpstr>Introduction</vt:lpstr>
      <vt:lpstr>Problem Statement</vt:lpstr>
      <vt:lpstr>Objectives of the System</vt:lpstr>
      <vt:lpstr>Module 1: Process Telemetry &amp; Lineage Discovery</vt:lpstr>
      <vt:lpstr>Module 1: Process Telemetry &amp; Lineage Discovery</vt:lpstr>
      <vt:lpstr>Module 2: Multi-Signature Anomaly Detection Engine</vt:lpstr>
      <vt:lpstr>Module 2: Multi-Signature Anomaly Detection Engine</vt:lpstr>
      <vt:lpstr>Module 3: Wait-For Graph Deadlock Analyzer</vt:lpstr>
      <vt:lpstr>Module 3: Wait-For Graph Deadlock Analyzer</vt:lpstr>
      <vt:lpstr>Module 4: Risk Scoring &amp; Quarantine Isolation Vault</vt:lpstr>
      <vt:lpstr>Module 4: Risk Scoring &amp; Quarantine Isolation Vault</vt:lpstr>
      <vt:lpstr>Module 5: Autonomous Self-Recovery &amp; Chaos Lab</vt:lpstr>
      <vt:lpstr>Module 5: Autonomous Self-Recovery &amp; Chaos Lab</vt:lpstr>
      <vt:lpstr>System Architecture</vt:lpstr>
      <vt:lpstr>Technologies Used</vt:lpstr>
      <vt:lpstr>Traditional Method vs OSentinel </vt:lpstr>
      <vt:lpstr>Expected Output</vt:lpstr>
      <vt:lpstr>Future Enhancements</vt:lpstr>
      <vt:lpstr>Conclusion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</dc:creator>
  <cp:lastModifiedBy>H K</cp:lastModifiedBy>
  <cp:revision>9</cp:revision>
  <dcterms:modified xsi:type="dcterms:W3CDTF">2026-08-29T05:19:23Z</dcterms:modified>
</cp:coreProperties>
</file>